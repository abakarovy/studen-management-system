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24384000" cy="13716000"/>
  <p:notesSz cx="13716000" cy="2438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Geist" panose="020B0604020202020204" charset="-52"/>
      <p:regular r:id="rId19"/>
      <p:bold r:id="rId20"/>
    </p:embeddedFont>
    <p:embeddedFont>
      <p:font typeface="Unbounded" panose="020B0604020202020204" charset="-52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812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6" name="Google Shape;26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" name="Google Shape;3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" name="Google Shape;46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" name="Google Shape;66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" name="Google Shape;8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5" name="Google Shape;95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" name="Google Shape;104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6" name="Google Shape;116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7" name="Google Shape;12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5062200" y="-3975100"/>
            <a:ext cx="23037800" cy="2303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/>
          <p:nvPr/>
        </p:nvSpPr>
        <p:spPr>
          <a:xfrm>
            <a:off x="1016000" y="12395200"/>
            <a:ext cx="10617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4559300" y="5384800"/>
            <a:ext cx="152349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30725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Unbounded"/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Дипломная работа на тему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6121400" y="6324600"/>
            <a:ext cx="12110720" cy="157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Geist"/>
              <a:buNone/>
            </a:pPr>
            <a:r>
              <a:rPr lang="en-US" sz="48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Создание информационной системы учета студентов группы</a:t>
            </a:r>
            <a:endParaRPr sz="4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3" descr="Rectangle 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4135100" y="10693400"/>
            <a:ext cx="9372600" cy="24511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14502550" y="11125200"/>
            <a:ext cx="880957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Выполнил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: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Абакаров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Магомед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Абакарович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ИСИП 4 к. 1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гр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/>
          <p:nvPr/>
        </p:nvSpPr>
        <p:spPr>
          <a:xfrm>
            <a:off x="4699000" y="812800"/>
            <a:ext cx="15019020" cy="14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535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МИНИСТЕРСТВО НАУКИ И ВЫСШЕГО ОБРАЗОВАНИЯ РФ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Федеральное государственное бюджетное образовательное учреждение высшего образования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«ДАГЕСТАНСКИЙ ГОСУДАРСТВЕННЫЙ УНИВЕРСИТЕТ»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Unbounded"/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КОЛЛЕДЖ  </a:t>
            </a: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 descr="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4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4"/>
          <p:cNvSpPr/>
          <p:nvPr/>
        </p:nvSpPr>
        <p:spPr>
          <a:xfrm>
            <a:off x="838200" y="3848100"/>
            <a:ext cx="14523720" cy="64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Современное общество быстро информатизируется во всех сферах, и высшее образование не является исключением. Цифровая трансформация учебных заведений требует перехода от традиционного бумажного учета к автоматизированным информационным системам. Особенно остро эта потребность проявляется на уровне учебного процесса — в академической группе, где сосредоточены оперативные данные об успеваемости, посещаемости и личных достижениях студентов. Поэтому возникает потребность в специализированном программном инструменте, рассчитанном на конкретный контекст использования. Разработка информационной системы учета студентов группы (ИСУСГ) является актуальной научно-практической задачей.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38200" y="1583765"/>
            <a:ext cx="1890522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b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Актуальность</a:t>
            </a:r>
            <a:r>
              <a:rPr lang="en-US" sz="8000" b="1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8000" b="1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темы</a:t>
            </a:r>
            <a:r>
              <a:rPr lang="en-US" sz="8000" b="1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8000" b="1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исследования</a:t>
            </a:r>
            <a:endParaRPr sz="80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" name="Google Shape;33;p4" descr="image 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281400" y="6388100"/>
            <a:ext cx="7289800" cy="651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oogle Shape;39;p5" descr="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5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5" descr="Imag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/>
          <p:nvPr/>
        </p:nvSpPr>
        <p:spPr>
          <a:xfrm>
            <a:off x="0" y="1930400"/>
            <a:ext cx="20327620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7625" rIns="0" bIns="0" anchor="t" anchorCtr="0">
            <a:noAutofit/>
          </a:bodyPr>
          <a:lstStyle/>
          <a:p>
            <a:pPr marL="0" marR="0" lvl="0" indent="0" algn="ctr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lang="en-US" sz="6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Анализ существующих решений и обоснование разработки собственной системы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5715000" y="8026400"/>
            <a:ext cx="16441420" cy="3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 современной практике образовательных организаций Российской Федерации для автоматизации процессов учета студентов и управления учебным процессом используется разнообразное программное обеспечение. Существующие решения включают как комплексные автоматизированные системы управления учебным заведением, охватывающие широкий спектр функций, так и специализированные приложения для локальных задач, таких как ведение журнала успеваемости или расписания занятий.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oogle Shape;49;p6" descr="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1016000" y="12395200"/>
            <a:ext cx="10617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2026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6"/>
          <p:cNvSpPr/>
          <p:nvPr/>
        </p:nvSpPr>
        <p:spPr>
          <a:xfrm>
            <a:off x="812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6"/>
          <p:cNvSpPr/>
          <p:nvPr/>
        </p:nvSpPr>
        <p:spPr>
          <a:xfrm>
            <a:off x="812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Функциональные требования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6"/>
          <p:cNvSpPr/>
          <p:nvPr/>
        </p:nvSpPr>
        <p:spPr>
          <a:xfrm>
            <a:off x="812800" y="5194300"/>
            <a:ext cx="527812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Возможность ведения централизованного учета студентов учебной группы, изменений статуса обучающихся, мониторинг посещаемости и успеваемости, формирование документации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6"/>
          <p:cNvSpPr/>
          <p:nvPr/>
        </p:nvSpPr>
        <p:spPr>
          <a:xfrm>
            <a:off x="6654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6"/>
          <p:cNvSpPr/>
          <p:nvPr/>
        </p:nvSpPr>
        <p:spPr>
          <a:xfrm>
            <a:off x="6654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Масштабируемость системы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654800" y="5194300"/>
            <a:ext cx="5278120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Позволяет увеличивать количество пользователей и объем данных без снижения производительности и стабильности работы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6"/>
          <p:cNvSpPr/>
          <p:nvPr/>
        </p:nvSpPr>
        <p:spPr>
          <a:xfrm>
            <a:off x="12496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12496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Требования к эксплуатации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12496800" y="5194300"/>
            <a:ext cx="527812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Условия, необходимые для повседневной работы с системой, а также требования к обеспечению ее бесперебойной работы со стороны обслуживающего персонала и конечных пользователей.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6"/>
          <p:cNvSpPr/>
          <p:nvPr/>
        </p:nvSpPr>
        <p:spPr>
          <a:xfrm>
            <a:off x="18338800" y="26543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6"/>
          <p:cNvSpPr/>
          <p:nvPr/>
        </p:nvSpPr>
        <p:spPr>
          <a:xfrm>
            <a:off x="18338800" y="4025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Требования к разработке и сопровождению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18338800" y="5194300"/>
            <a:ext cx="527812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Процессы создания, документирования, тестирования и последующего развития системы.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812800" y="812800"/>
            <a:ext cx="22804120" cy="1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7625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lang="en-US" sz="6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Формирование требований к проектируемой системе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7" descr="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7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0"/>
            <a:ext cx="180594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/>
          <p:nvPr/>
        </p:nvSpPr>
        <p:spPr>
          <a:xfrm>
            <a:off x="812800" y="4419600"/>
            <a:ext cx="7225453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Помимо формальных требований и функциональных характеристик, проектирование информационной системы учета студентов группы должно учитывать организационные и эксплуатационные аспекты, которые влияют на эффективность ее работы в реальной образовательной среде.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7"/>
          <p:cNvSpPr/>
          <p:nvPr/>
        </p:nvSpPr>
        <p:spPr>
          <a:xfrm>
            <a:off x="812800" y="812800"/>
            <a:ext cx="11729720" cy="31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7625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lang="en-US" sz="6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Дополнительные аспекты внедрения и эксплуатации системы учета студентов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8" descr="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8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46400" y="0"/>
            <a:ext cx="214376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8"/>
          <p:cNvSpPr/>
          <p:nvPr/>
        </p:nvSpPr>
        <p:spPr>
          <a:xfrm>
            <a:off x="812800" y="812800"/>
            <a:ext cx="15019020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7625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lang="en-US" sz="6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Выбор технологического стека и обоснование архитектуры системы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8"/>
          <p:cNvSpPr/>
          <p:nvPr/>
        </p:nvSpPr>
        <p:spPr>
          <a:xfrm>
            <a:off x="812800" y="4203700"/>
            <a:ext cx="1448562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Выбор технологического стека для проектируемой информационной системы учета студентов группы является ключевым этапом проектирования, определяющим как функциональные возможности системы, так и ее надежность, масштабируемость и удобство эксплуатации. При выборе технологий учитывались требования к веб-ориентированности, многопользовательскому доступу, скорости обработки данных и возможности интеграции с другими системами образовательной организации. Основным принципом является использование современных, стабильных и поддерживаемых технологий, обеспечивающих долговечность и эффективность системы в условиях реальной эксплуатации.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9" descr="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9" descr="image 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87200" y="812800"/>
            <a:ext cx="11684000" cy="768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9"/>
          <p:cNvSpPr/>
          <p:nvPr/>
        </p:nvSpPr>
        <p:spPr>
          <a:xfrm>
            <a:off x="11887200" y="9105900"/>
            <a:ext cx="1172972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Рисунок 1. Схема базы данных.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11887200" y="9740900"/>
            <a:ext cx="1172972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Реляционная модель подходит для учета студентов, поскольку позволяет формализовать объекты учебного процесса и их атрибуты: персональные данные, академическую успеваемость, посещаемость, статус студента и историю изменений.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9"/>
          <p:cNvSpPr/>
          <p:nvPr/>
        </p:nvSpPr>
        <p:spPr>
          <a:xfrm>
            <a:off x="812800" y="812800"/>
            <a:ext cx="1226312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Проектирование базы данных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9"/>
          <p:cNvSpPr/>
          <p:nvPr/>
        </p:nvSpPr>
        <p:spPr>
          <a:xfrm>
            <a:off x="812800" y="3784600"/>
            <a:ext cx="11120120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Проектирование базы данных является одним из ключевых этапов разработки информационной системы учета студентов группы. От правильной структуры базы данных зависит эффективность хранения, обработки и доступа к информации, а также надежность и масштабируемость всей системы. В отечественных источниках подчеркивается, что проектирование базы данных должно учитывать предметную область, тип данных, требования к целостности и безопасности, а также возможности аналитической обработки информации. 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0" descr="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0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60909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0"/>
          <p:cNvSpPr/>
          <p:nvPr/>
        </p:nvSpPr>
        <p:spPr>
          <a:xfrm>
            <a:off x="12196229" y="812800"/>
            <a:ext cx="10650220" cy="2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7625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lang="en-US" sz="6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Проектирование функциональных модулей системы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0"/>
          <p:cNvSpPr/>
          <p:nvPr/>
        </p:nvSpPr>
        <p:spPr>
          <a:xfrm>
            <a:off x="12192000" y="4681071"/>
            <a:ext cx="10650220" cy="53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Проектирование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функциональных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модулей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информационной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системы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учета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студентов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группы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является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важным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этапом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разработки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,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обеспечивающим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структурированное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распределение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задач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между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компонентами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системы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и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упрощение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процесса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последующей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реализации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и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тестирования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.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Каждый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модуль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отвечает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за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выполнение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определенного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набора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функций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,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обеспечивая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разделение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ответственности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и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упрощая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управление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сложной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системой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1" descr="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1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24600" y="0"/>
            <a:ext cx="180594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1"/>
          <p:cNvSpPr/>
          <p:nvPr/>
        </p:nvSpPr>
        <p:spPr>
          <a:xfrm>
            <a:off x="803388" y="6330950"/>
            <a:ext cx="7225453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Интерфейс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1"/>
          <p:cNvSpPr/>
          <p:nvPr/>
        </p:nvSpPr>
        <p:spPr>
          <a:xfrm>
            <a:off x="803388" y="6965950"/>
            <a:ext cx="7225453" cy="586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Фронтенд-часть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информационной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системы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реализована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на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базе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фреймворка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Vue.js и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представляет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собой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интерактивное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веб-приложение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с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модульной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компонентной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архитектурой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.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Интерфейс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системы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разделен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на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несколько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ключевых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страниц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,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каждая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из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которых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решает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определенные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задачи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в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рамках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учета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студентов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группы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1"/>
          <p:cNvSpPr/>
          <p:nvPr/>
        </p:nvSpPr>
        <p:spPr>
          <a:xfrm>
            <a:off x="803388" y="342900"/>
            <a:ext cx="7221220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7625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lang="en-US" sz="64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Реализация</a:t>
            </a:r>
            <a:r>
              <a:rPr lang="en-US" sz="64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и </a:t>
            </a:r>
            <a:r>
              <a:rPr lang="en-US" sz="64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тестирование</a:t>
            </a:r>
            <a:r>
              <a:rPr lang="en-US" sz="64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64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ключевых</a:t>
            </a:r>
            <a:r>
              <a:rPr lang="en-US" sz="64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64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компонентов</a:t>
            </a:r>
            <a:r>
              <a:rPr lang="en-US" sz="6400" b="0" i="0" u="none" strike="noStrike" cap="none" dirty="0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 </a:t>
            </a:r>
            <a:r>
              <a:rPr lang="en-US" sz="6400" b="0" i="0" u="none" strike="noStrike" cap="none" dirty="0" err="1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системы</a:t>
            </a:r>
            <a:endParaRPr sz="64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11" descr="image 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404600" y="2349500"/>
            <a:ext cx="11976100" cy="831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1" descr="Macbook Air M2 Silver 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931400" y="2349500"/>
            <a:ext cx="14452600" cy="902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2" descr="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2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62687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15786100" y="7864288"/>
            <a:ext cx="7225453" cy="32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Все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страницы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адаптированы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для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работы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на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различных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устройствах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и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обеспечивают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интуитивно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понятное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взаимодействие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с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данными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через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современный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и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минималистичный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дизайн</a:t>
            </a:r>
            <a:r>
              <a:rPr lang="en-US" sz="3200" b="0" i="0" u="none" strike="noStrike" cap="none" dirty="0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12" descr="image 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0900" y="2349500"/>
            <a:ext cx="11938000" cy="822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2" descr="Macbook Air M2 Silver 1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2349500"/>
            <a:ext cx="14271873" cy="902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15786100" y="2349500"/>
            <a:ext cx="7221220" cy="40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7625" rIns="0" bIns="0" anchor="t" anchorCtr="0">
            <a:noAutofit/>
          </a:bodyPr>
          <a:lstStyle/>
          <a:p>
            <a:pPr marL="0" marR="0" lvl="0" indent="0" algn="l" rtl="0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Unbounded"/>
              <a:buNone/>
            </a:pPr>
            <a:r>
              <a:rPr lang="en-US" sz="6400" b="0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Реализация и тестирование ключевых компонентов системы</a:t>
            </a:r>
            <a:endParaRPr sz="6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13" descr="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3"/>
          <p:cNvSpPr/>
          <p:nvPr/>
        </p:nvSpPr>
        <p:spPr>
          <a:xfrm>
            <a:off x="812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1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812800" y="6057900"/>
            <a:ext cx="527812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Подготовка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пользователей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3"/>
          <p:cNvSpPr/>
          <p:nvPr/>
        </p:nvSpPr>
        <p:spPr>
          <a:xfrm>
            <a:off x="812800" y="7226300"/>
            <a:ext cx="52781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Преподаватели, административный персонал и студенты.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6654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2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3"/>
          <p:cNvSpPr/>
          <p:nvPr/>
        </p:nvSpPr>
        <p:spPr>
          <a:xfrm>
            <a:off x="6654800" y="6057900"/>
            <a:ext cx="52781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Адаптация существующих процессов учета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3"/>
          <p:cNvSpPr/>
          <p:nvPr/>
        </p:nvSpPr>
        <p:spPr>
          <a:xfrm>
            <a:off x="6654800" y="7759700"/>
            <a:ext cx="527812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Пересмотр форм документов, процедуры ведения журналов и обработка информации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3"/>
          <p:cNvSpPr/>
          <p:nvPr/>
        </p:nvSpPr>
        <p:spPr>
          <a:xfrm>
            <a:off x="12496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3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3"/>
          <p:cNvSpPr/>
          <p:nvPr/>
        </p:nvSpPr>
        <p:spPr>
          <a:xfrm>
            <a:off x="12496800" y="6057900"/>
            <a:ext cx="527812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Интеграции системы с другими информационными ресурсами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3"/>
          <p:cNvSpPr/>
          <p:nvPr/>
        </p:nvSpPr>
        <p:spPr>
          <a:xfrm>
            <a:off x="12496800" y="8293100"/>
            <a:ext cx="5278120" cy="213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Соединение с системами электронного обучения, библиотечными ресурсами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3"/>
          <p:cNvSpPr/>
          <p:nvPr/>
        </p:nvSpPr>
        <p:spPr>
          <a:xfrm>
            <a:off x="18338800" y="4127500"/>
            <a:ext cx="5278120" cy="7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4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3"/>
          <p:cNvSpPr/>
          <p:nvPr/>
        </p:nvSpPr>
        <p:spPr>
          <a:xfrm>
            <a:off x="18338800" y="6057900"/>
            <a:ext cx="527812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Обеспечение безопасности и защиты персональных данных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3"/>
          <p:cNvSpPr/>
          <p:nvPr/>
        </p:nvSpPr>
        <p:spPr>
          <a:xfrm>
            <a:off x="18338800" y="7759700"/>
            <a:ext cx="527812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B8BEC5"/>
              </a:buClr>
              <a:buSzPts val="3200"/>
              <a:buFont typeface="Geist"/>
              <a:buNone/>
            </a:pPr>
            <a:r>
              <a:rPr lang="en-US" sz="3200" b="0" i="0" u="none" strike="noStrike" cap="none">
                <a:solidFill>
                  <a:srgbClr val="B8BEC5"/>
                </a:solidFill>
                <a:latin typeface="Geist"/>
                <a:ea typeface="Geist"/>
                <a:cs typeface="Geist"/>
                <a:sym typeface="Geist"/>
              </a:rPr>
              <a:t>Разграничение прав доступа, аутентификация и авторизация пользователей, защита данных от несанкционированного изменения, соответствие с законами РФ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3"/>
          <p:cNvSpPr/>
          <p:nvPr/>
        </p:nvSpPr>
        <p:spPr>
          <a:xfrm>
            <a:off x="812800" y="812800"/>
            <a:ext cx="2280412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4550" rIns="0" bIns="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Unbounded"/>
              <a:buNone/>
            </a:pPr>
            <a:r>
              <a:rPr lang="en-US" sz="8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Рекомендации по внедрению и использованию системы</a:t>
            </a:r>
            <a:endParaRPr sz="8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4" descr="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4" descr="Imag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496800" y="0"/>
            <a:ext cx="11887200" cy="13716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14"/>
          <p:cNvSpPr/>
          <p:nvPr/>
        </p:nvSpPr>
        <p:spPr>
          <a:xfrm>
            <a:off x="812800" y="812800"/>
            <a:ext cx="15019020" cy="266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6825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0"/>
              <a:buFont typeface="Unbounded"/>
              <a:buNone/>
            </a:pPr>
            <a:r>
              <a:rPr lang="en-US" sz="12000" b="1" i="0" u="none" strike="noStrike" cap="none">
                <a:solidFill>
                  <a:srgbClr val="FFFFFF"/>
                </a:solidFill>
                <a:latin typeface="Unbounded"/>
                <a:ea typeface="Unbounded"/>
                <a:cs typeface="Unbounded"/>
                <a:sym typeface="Unbounded"/>
              </a:rPr>
              <a:t>Спасибо за внимание!</a:t>
            </a:r>
            <a:endParaRPr sz="1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4"/>
          <p:cNvSpPr/>
          <p:nvPr/>
        </p:nvSpPr>
        <p:spPr>
          <a:xfrm>
            <a:off x="812800" y="10947400"/>
            <a:ext cx="9120094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ist"/>
              <a:buNone/>
            </a:pP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Выполнил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: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Абакаров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Магомед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Абакарович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 </a:t>
            </a:r>
            <a:b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</a:b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ИСИП 4 к. 1 </a:t>
            </a:r>
            <a:r>
              <a:rPr lang="en-US" sz="3200" b="0" i="0" u="none" strike="noStrike" cap="none" dirty="0" err="1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гр</a:t>
            </a:r>
            <a:r>
              <a:rPr lang="en-US" sz="3200" b="0" i="0" u="none" strike="noStrike" cap="none" dirty="0">
                <a:solidFill>
                  <a:srgbClr val="FFFFFF"/>
                </a:solidFill>
                <a:latin typeface="Geist"/>
                <a:ea typeface="Geist"/>
                <a:cs typeface="Geist"/>
                <a:sym typeface="Geist"/>
              </a:rPr>
              <a:t>.</a:t>
            </a:r>
            <a:endParaRPr sz="3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737</Words>
  <Application>Microsoft Office PowerPoint</Application>
  <PresentationFormat>Произвольный</PresentationFormat>
  <Paragraphs>68</Paragraphs>
  <Slides>12</Slides>
  <Notes>12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Unbounded</vt:lpstr>
      <vt:lpstr>Calibri</vt:lpstr>
      <vt:lpstr>Geist</vt:lpstr>
      <vt:lpstr>Arial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Maga</dc:creator>
  <cp:lastModifiedBy>Maga</cp:lastModifiedBy>
  <cp:revision>2</cp:revision>
  <dcterms:modified xsi:type="dcterms:W3CDTF">2026-06-08T07:35:56Z</dcterms:modified>
</cp:coreProperties>
</file>